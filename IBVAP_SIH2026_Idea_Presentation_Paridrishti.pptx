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94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arxiv.org/abs/2309.08382?utm_source=chatgpt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09/ICIP.2017.8296962?utm_source=chatgpt.com" TargetMode="External"/><Relationship Id="rId5" Type="http://schemas.openxmlformats.org/officeDocument/2006/relationships/hyperlink" Target="https://www.ecva.net/papers/eccv_2022/papers_ECCV/html/315_ECCV_2022_paper.php?utm_source=chatgpt.com" TargetMode="External"/><Relationship Id="rId4" Type="http://schemas.openxmlformats.org/officeDocument/2006/relationships/hyperlink" Target="https://doi.org/10.1016/j.aej.2025.04.047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/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Problem Statement ID –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SIH26187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Problem Statement Title- </a:t>
            </a:r>
            <a:r>
              <a:rPr lang="en-US" sz="1800" b="1" dirty="0">
                <a:latin typeface="Arial" pitchFamily="34" charset="0"/>
                <a:cs typeface="Arial" pitchFamily="34" charset="0"/>
              </a:rPr>
              <a:t>AI-Based Intelligent Video Analytics Platform for Border Surveillance using Existing CCTV Infrastructure</a:t>
            </a:r>
          </a:p>
          <a:p>
            <a:pPr marL="285750" indent="-28575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Theme- </a:t>
            </a:r>
            <a:r>
              <a:rPr lang="en-IO" b="1" dirty="0">
                <a:latin typeface="Arial" panose="020B0604020202020204" pitchFamily="34" charset="0"/>
                <a:cs typeface="Arial" panose="020B0604020202020204" pitchFamily="34" charset="0"/>
              </a:rPr>
              <a:t>Blockchain</a:t>
            </a:r>
            <a:r>
              <a:rPr lang="en-IO" b="1" dirty="0"/>
              <a:t> &amp; Cybersecurity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PS Category-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Team ID-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(as allotted on SIH portal)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Team Name 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Paridrishti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367618" y="649080"/>
            <a:ext cx="8412468" cy="45719"/>
          </a:xfrm>
        </p:spPr>
        <p:txBody>
          <a:bodyPr/>
          <a:lstStyle/>
          <a:p>
            <a:pPr eaLnBrk="1" hangingPunct="1"/>
            <a:b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IBVAP: Adaptive, Reliability-Aware Video Intelligence for Border CCTV</a:t>
            </a:r>
            <a:b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14300" y="1362075"/>
            <a:ext cx="11963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 lnSpcReduction="10000"/>
          </a:bodyPr>
          <a:lstStyle/>
          <a:p>
            <a:r>
              <a:rPr lang="en-IO" b="1" dirty="0"/>
              <a:t>Problems Addressed</a:t>
            </a:r>
          </a:p>
          <a:p>
            <a:r>
              <a:rPr lang="en-IO" dirty="0"/>
              <a:t>• </a:t>
            </a:r>
            <a:r>
              <a:rPr lang="en-IO" b="1" dirty="0"/>
              <a:t>Border surveillance requires continuous monitoring of vast and difficult terrains</a:t>
            </a:r>
            <a:r>
              <a:rPr lang="en-IO" dirty="0"/>
              <a:t>, making manual observation resource-intensive.</a:t>
            </a:r>
          </a:p>
          <a:p>
            <a:r>
              <a:rPr lang="en-IO" dirty="0"/>
              <a:t>• Traditional CCTV monitoring causes </a:t>
            </a:r>
            <a:r>
              <a:rPr lang="en-IO" b="1" dirty="0"/>
              <a:t>delayed threat detection, missed events, and human error.</a:t>
            </a:r>
            <a:endParaRPr lang="en-IO" dirty="0"/>
          </a:p>
          <a:p>
            <a:r>
              <a:rPr lang="en-IO" dirty="0"/>
              <a:t>• Existing systems lack integrated </a:t>
            </a:r>
            <a:r>
              <a:rPr lang="en-IO" b="1" dirty="0"/>
              <a:t>real-time detection, tracking, identity verification, and vehicle recognition.</a:t>
            </a:r>
            <a:endParaRPr lang="en-IO" dirty="0"/>
          </a:p>
          <a:p>
            <a:r>
              <a:rPr lang="en-IO" b="1" dirty="0"/>
              <a:t>Proposed Solution</a:t>
            </a:r>
          </a:p>
          <a:p>
            <a:r>
              <a:rPr lang="en-IO" dirty="0"/>
              <a:t>▪ We propose a </a:t>
            </a:r>
            <a:r>
              <a:rPr lang="en-IO" b="1" dirty="0"/>
              <a:t>software-first, real-time AI-powered CCTV analytics platform</a:t>
            </a:r>
            <a:r>
              <a:rPr lang="en-IO" dirty="0"/>
              <a:t> for intelligent border surveillance.</a:t>
            </a:r>
          </a:p>
          <a:p>
            <a:r>
              <a:rPr lang="en-IO" dirty="0"/>
              <a:t>▪ Uses </a:t>
            </a:r>
            <a:r>
              <a:rPr lang="en-IO" b="1" dirty="0"/>
              <a:t>IP/RTSP CCTV cameras and video feeds</a:t>
            </a:r>
            <a:r>
              <a:rPr lang="en-IO" dirty="0"/>
              <a:t>, avoiding dedicated smart-camera hardware.</a:t>
            </a:r>
          </a:p>
          <a:p>
            <a:r>
              <a:rPr lang="en-IO" dirty="0"/>
              <a:t>▪ AI modules enable:</a:t>
            </a:r>
          </a:p>
          <a:p>
            <a:r>
              <a:rPr lang="en-IO" dirty="0"/>
              <a:t> 1. </a:t>
            </a:r>
            <a:r>
              <a:rPr lang="en-IO" b="1" dirty="0"/>
              <a:t>Human &amp; Vehicle Detection and Tracking</a:t>
            </a:r>
            <a:br>
              <a:rPr lang="en-IO" dirty="0"/>
            </a:br>
            <a:r>
              <a:rPr lang="en-IO" dirty="0"/>
              <a:t> 2. </a:t>
            </a:r>
            <a:r>
              <a:rPr lang="en-IO" b="1" dirty="0"/>
              <a:t>Virtual Fence Intrusion Detection, Face Verification &amp; ANPR</a:t>
            </a:r>
            <a:endParaRPr lang="en-IO" dirty="0"/>
          </a:p>
          <a:p>
            <a:r>
              <a:rPr lang="en-IO" dirty="0"/>
              <a:t>▪ A centralized dashboard provides </a:t>
            </a:r>
            <a:r>
              <a:rPr lang="en-IO" b="1" dirty="0"/>
              <a:t>live analytics and real-time alerts</a:t>
            </a:r>
            <a:r>
              <a:rPr lang="en-IO" dirty="0"/>
              <a:t> for faster operator response, with </a:t>
            </a:r>
            <a:r>
              <a:rPr lang="en-IO" b="1" dirty="0"/>
              <a:t>GPS coordinates assigned to each camera</a:t>
            </a:r>
            <a:r>
              <a:rPr lang="en-IO" dirty="0"/>
              <a:t> for </a:t>
            </a:r>
            <a:r>
              <a:rPr lang="en-IO" b="1" dirty="0"/>
              <a:t>precise location tracking and incident identification</a:t>
            </a:r>
            <a:r>
              <a:rPr lang="en-IO" dirty="0"/>
              <a:t>.</a:t>
            </a:r>
          </a:p>
          <a:p>
            <a:r>
              <a:rPr lang="en-IO" b="1" dirty="0"/>
              <a:t>Innovation and Uniqueness</a:t>
            </a:r>
          </a:p>
          <a:p>
            <a:r>
              <a:rPr lang="en-IO" dirty="0"/>
              <a:t>• </a:t>
            </a:r>
            <a:r>
              <a:rPr lang="en-IO" b="1" dirty="0"/>
              <a:t>Adaptive Reliability-Aware AI Analytics</a:t>
            </a:r>
            <a:endParaRPr lang="en-IO" dirty="0"/>
          </a:p>
          <a:p>
            <a:r>
              <a:rPr lang="en-IO" dirty="0"/>
              <a:t>• Detects visual degradation including </a:t>
            </a:r>
            <a:r>
              <a:rPr lang="en-IO" b="1" dirty="0"/>
              <a:t>low light, blur, and fog-like conditions</a:t>
            </a:r>
            <a:endParaRPr lang="en-IO" dirty="0"/>
          </a:p>
          <a:p>
            <a:r>
              <a:rPr lang="en-IO" dirty="0"/>
              <a:t>• Generates a </a:t>
            </a:r>
            <a:r>
              <a:rPr lang="en-IO" b="1" dirty="0"/>
              <a:t>condition-based reliability score</a:t>
            </a:r>
            <a:r>
              <a:rPr lang="en-IO" dirty="0"/>
              <a:t> for surveillance results</a:t>
            </a:r>
          </a:p>
          <a:p>
            <a:r>
              <a:rPr lang="en-IO" dirty="0"/>
              <a:t>• Adapts alert confirmation logic to </a:t>
            </a:r>
            <a:r>
              <a:rPr lang="en-IO" b="1" dirty="0"/>
              <a:t>reduce false and unreliable alerts</a:t>
            </a:r>
            <a:endParaRPr lang="en-I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00847" y="6378574"/>
            <a:ext cx="5990303" cy="365125"/>
          </a:xfrm>
        </p:spPr>
        <p:txBody>
          <a:bodyPr/>
          <a:lstStyle/>
          <a:p>
            <a:pPr marL="342900" indent="-342900">
              <a:spcAft>
                <a:spcPts val="1400"/>
              </a:spcAft>
              <a:buFont typeface="Wingdings" pitchFamily="2" charset="2"/>
              <a:buChar char="v"/>
            </a:pPr>
            <a:r>
              <a:rPr lang="en-US" b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IBVAP: Adaptive, Reliability-Aware Video Intelligence for Border CCTV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70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b="1" dirty="0"/>
              <a:t>Paridrishti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" y="6371441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24840" y="-3094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52840" y="6373032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38500" y="6417162"/>
            <a:ext cx="5715000" cy="365125"/>
          </a:xfrm>
        </p:spPr>
        <p:txBody>
          <a:bodyPr/>
          <a:lstStyle/>
          <a:p>
            <a:pPr marL="342900" indent="-342900">
              <a:spcAft>
                <a:spcPts val="1400"/>
              </a:spcAft>
              <a:buFont typeface="Wingdings" pitchFamily="2" charset="2"/>
              <a:buChar char="v"/>
            </a:pPr>
            <a:r>
              <a:rPr lang="en-US" b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IBVAP: Adaptive, Reliability-Aware Video Intelligence for Border CCTV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54845" y="181702"/>
            <a:ext cx="145429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b="1" dirty="0"/>
              <a:t>Paridrishti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5326" y="18179"/>
            <a:ext cx="2249850" cy="10623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B3DC6B-EF7C-D0ED-87CB-05DAD0824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0" y="3205778"/>
            <a:ext cx="12192000" cy="32113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6018396-69A4-D200-4903-810737DDE209}"/>
              </a:ext>
            </a:extLst>
          </p:cNvPr>
          <p:cNvSpPr txBox="1"/>
          <p:nvPr/>
        </p:nvSpPr>
        <p:spPr>
          <a:xfrm>
            <a:off x="1809135" y="1166336"/>
            <a:ext cx="445401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O" sz="1500" b="1" dirty="0"/>
              <a:t>AI / Computer Vision</a:t>
            </a:r>
          </a:p>
          <a:p>
            <a:r>
              <a:rPr lang="en-IO" sz="1500" dirty="0"/>
              <a:t>• </a:t>
            </a:r>
            <a:r>
              <a:rPr lang="en-IO" sz="1500" b="1" dirty="0"/>
              <a:t>YOLOv8</a:t>
            </a:r>
            <a:r>
              <a:rPr lang="en-IO" sz="1500" dirty="0"/>
              <a:t> – Object Detection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 err="1"/>
              <a:t>ByteTrack</a:t>
            </a:r>
            <a:r>
              <a:rPr lang="en-IO" sz="1500" dirty="0"/>
              <a:t> – Multi-Object Tracking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 err="1"/>
              <a:t>DeepFace</a:t>
            </a:r>
            <a:r>
              <a:rPr lang="en-IO" sz="1500" dirty="0"/>
              <a:t> – Face Verification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 err="1"/>
              <a:t>EasyOCR</a:t>
            </a:r>
            <a:r>
              <a:rPr lang="en-IO" sz="1500" dirty="0"/>
              <a:t> – ANPR</a:t>
            </a:r>
          </a:p>
          <a:p>
            <a:r>
              <a:rPr lang="en-IO" sz="1500" b="1" dirty="0"/>
              <a:t>Video Processing</a:t>
            </a:r>
          </a:p>
          <a:p>
            <a:r>
              <a:rPr lang="en-IO" sz="1500" dirty="0"/>
              <a:t>• </a:t>
            </a:r>
            <a:r>
              <a:rPr lang="en-IO" sz="1500" b="1" dirty="0"/>
              <a:t>OpenCV</a:t>
            </a:r>
            <a:r>
              <a:rPr lang="en-IO" sz="1500" dirty="0"/>
              <a:t> – Frame Processing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 err="1"/>
              <a:t>FFmpeg</a:t>
            </a:r>
            <a:r>
              <a:rPr lang="en-IO" sz="1500" dirty="0"/>
              <a:t> – RTSP / Video Streaming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/>
              <a:t>CLAHE</a:t>
            </a:r>
            <a:r>
              <a:rPr lang="en-IO" sz="1500" dirty="0"/>
              <a:t> – Low-Light Enhancement</a:t>
            </a:r>
          </a:p>
          <a:p>
            <a:endParaRPr lang="en-IO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0DE332-07D2-2763-C9C3-4AE2D2E9EED9}"/>
              </a:ext>
            </a:extLst>
          </p:cNvPr>
          <p:cNvSpPr txBox="1"/>
          <p:nvPr/>
        </p:nvSpPr>
        <p:spPr>
          <a:xfrm>
            <a:off x="6638025" y="1166336"/>
            <a:ext cx="3436518" cy="1985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O" sz="1500" b="1" dirty="0"/>
              <a:t>Software Stack</a:t>
            </a:r>
          </a:p>
          <a:p>
            <a:pPr algn="just"/>
            <a:r>
              <a:rPr lang="en-IO" sz="1500" dirty="0"/>
              <a:t>• </a:t>
            </a:r>
            <a:r>
              <a:rPr lang="en-IO" sz="1500" b="1" dirty="0"/>
              <a:t>Python + </a:t>
            </a:r>
            <a:r>
              <a:rPr lang="en-IO" sz="1500" b="1" dirty="0" err="1"/>
              <a:t>FastAPI</a:t>
            </a:r>
            <a:r>
              <a:rPr lang="en-IO" sz="1500" dirty="0"/>
              <a:t> – Backend &amp; APIs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/>
              <a:t>React + Vite</a:t>
            </a:r>
            <a:r>
              <a:rPr lang="en-IO" sz="1500" dirty="0"/>
              <a:t> – Control-Room Dashboard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/>
              <a:t>WebSocket</a:t>
            </a:r>
            <a:r>
              <a:rPr lang="en-IO" sz="1500" dirty="0"/>
              <a:t> – Real-Time Updates</a:t>
            </a:r>
          </a:p>
          <a:p>
            <a:pPr algn="just"/>
            <a:r>
              <a:rPr lang="en-IO" sz="1500" b="1" dirty="0"/>
              <a:t>Data &amp; Deployment</a:t>
            </a:r>
          </a:p>
          <a:p>
            <a:pPr algn="just"/>
            <a:r>
              <a:rPr lang="en-IO" sz="1500" dirty="0"/>
              <a:t>• </a:t>
            </a:r>
            <a:r>
              <a:rPr lang="en-IO" sz="1500" b="1" dirty="0"/>
              <a:t>SQLite / PostgreSQL</a:t>
            </a:r>
            <a:r>
              <a:rPr lang="en-IO" sz="1500" dirty="0"/>
              <a:t> – Data Storage</a:t>
            </a:r>
            <a:br>
              <a:rPr lang="en-IO" sz="1500" dirty="0"/>
            </a:br>
            <a:r>
              <a:rPr lang="en-IO" sz="1500" dirty="0"/>
              <a:t>• </a:t>
            </a:r>
            <a:r>
              <a:rPr lang="en-IO" sz="1500" b="1" dirty="0"/>
              <a:t>Docker Compose</a:t>
            </a:r>
            <a:r>
              <a:rPr lang="en-IO" sz="1500" dirty="0"/>
              <a:t> – Deployment</a:t>
            </a:r>
          </a:p>
          <a:p>
            <a:pPr algn="just"/>
            <a:endParaRPr lang="en-IO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1723FC-F044-0CA0-FD35-4DE18713A7B0}"/>
              </a:ext>
            </a:extLst>
          </p:cNvPr>
          <p:cNvSpPr txBox="1"/>
          <p:nvPr/>
        </p:nvSpPr>
        <p:spPr>
          <a:xfrm>
            <a:off x="1384721" y="927388"/>
            <a:ext cx="2491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O" b="1" dirty="0"/>
              <a:t>Technologies to be Used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E8D56CD-DDDA-F9D4-ED09-EE30513BCEFE}"/>
              </a:ext>
            </a:extLst>
          </p:cNvPr>
          <p:cNvCxnSpPr/>
          <p:nvPr/>
        </p:nvCxnSpPr>
        <p:spPr>
          <a:xfrm>
            <a:off x="10636898" y="4198776"/>
            <a:ext cx="22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" y="1023785"/>
            <a:ext cx="5862484" cy="4649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 fontScale="85000" lnSpcReduction="20000"/>
          </a:bodyPr>
          <a:lstStyle/>
          <a:p>
            <a:pPr algn="just"/>
            <a:r>
              <a:rPr lang="en-IO" sz="1600" b="1" dirty="0"/>
              <a:t>Feasibility of Project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Technically feasible</a:t>
            </a:r>
            <a:r>
              <a:rPr lang="en-IO" sz="1600" dirty="0"/>
              <a:t> – Runs on standard computing hardware using modular AI models for detection, tracking, face verification, and ANPR.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Economically viable</a:t>
            </a:r>
            <a:r>
              <a:rPr lang="en-IO" sz="1600" dirty="0"/>
              <a:t> – Leverages existing IP/RTSP CCTV infrastructure, reducing the need for dedicated smart-camera hardware.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Scalable</a:t>
            </a:r>
            <a:r>
              <a:rPr lang="en-IO" sz="1600" dirty="0"/>
              <a:t> – Multiple camera feeds and analytics modules can be deployed and expanded based on surveillance requirements.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Practical</a:t>
            </a:r>
            <a:r>
              <a:rPr lang="en-IO" sz="1600" dirty="0"/>
              <a:t> – Provides real-time alerts and a centralized dashboard, enabling operators to respond faster to potential threats.</a:t>
            </a:r>
          </a:p>
          <a:p>
            <a:pPr algn="just"/>
            <a:br>
              <a:rPr lang="en-IO" sz="1600" dirty="0"/>
            </a:br>
            <a:endParaRPr lang="en-IO" sz="1600" dirty="0"/>
          </a:p>
          <a:p>
            <a:pPr algn="just"/>
            <a:r>
              <a:rPr lang="en-IO" sz="1600" b="1" dirty="0"/>
              <a:t>Challenges Faced and Their Solutions</a:t>
            </a:r>
          </a:p>
          <a:p>
            <a:pPr algn="just"/>
            <a:r>
              <a:rPr lang="en-IO" sz="1600" b="1" dirty="0"/>
              <a:t>Reliable AI Surveillance Under Degraded Conditions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Low-light scenes</a:t>
            </a:r>
            <a:r>
              <a:rPr lang="en-IO" sz="1600" dirty="0"/>
              <a:t> – CLAHE-based enhancement improves visibility before AI analysis.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Blur, noise and low contrast</a:t>
            </a:r>
            <a:r>
              <a:rPr lang="en-IO" sz="1600" dirty="0"/>
              <a:t> – A condition-monitoring module detects degradation and adjusts the reliability context.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False intrusion alerts</a:t>
            </a:r>
            <a:r>
              <a:rPr lang="en-IO" sz="1600" dirty="0"/>
              <a:t> – </a:t>
            </a:r>
            <a:r>
              <a:rPr lang="en-IO" sz="1600" b="1" dirty="0"/>
              <a:t>Persistent object tracking</a:t>
            </a:r>
            <a:r>
              <a:rPr lang="en-IO" sz="1600" dirty="0"/>
              <a:t> and </a:t>
            </a:r>
            <a:r>
              <a:rPr lang="en-IO" sz="1600" b="1" dirty="0"/>
              <a:t>configurable multi-frame fence confirmation</a:t>
            </a:r>
            <a:r>
              <a:rPr lang="en-IO" sz="1600" dirty="0"/>
              <a:t> improve </a:t>
            </a:r>
            <a:r>
              <a:rPr lang="en-IO" sz="1600" b="1" dirty="0"/>
              <a:t>alert reliability</a:t>
            </a:r>
            <a:r>
              <a:rPr lang="en-IO" sz="1600" dirty="0"/>
              <a:t> and reduce </a:t>
            </a:r>
            <a:r>
              <a:rPr lang="en-IO" sz="1600" b="1" dirty="0"/>
              <a:t>false intrusion alerts</a:t>
            </a:r>
            <a:r>
              <a:rPr lang="en-IO" sz="1600" dirty="0"/>
              <a:t>.</a:t>
            </a:r>
            <a:endParaRPr lang="en-US" sz="1600" dirty="0"/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RTSP interruptions / inference delays</a:t>
            </a:r>
            <a:r>
              <a:rPr lang="en-IO" sz="1600" dirty="0"/>
              <a:t> – Automatic stream reconnection, frame buffering, and configurable frame sampling maintain continuous operation.</a:t>
            </a:r>
          </a:p>
          <a:p>
            <a:pPr algn="just"/>
            <a:r>
              <a:rPr lang="en-IO" sz="1600" dirty="0"/>
              <a:t>○ </a:t>
            </a:r>
            <a:r>
              <a:rPr lang="en-IO" sz="1600" b="1" dirty="0"/>
              <a:t>Privacy and watchlist concerns</a:t>
            </a:r>
            <a:r>
              <a:rPr lang="en-IO" sz="1600" dirty="0"/>
              <a:t> – Future deployment can incorporate access control, encryption, audit logging, and retention policies.</a:t>
            </a:r>
          </a:p>
          <a:p>
            <a:pPr marL="228600" indent="-228600" algn="just">
              <a:spcAft>
                <a:spcPts val="900"/>
              </a:spcAft>
              <a:buFont typeface="Arial" pitchFamily="34" charset="0"/>
              <a:buChar char="•"/>
            </a:pPr>
            <a:endParaRPr lang="en-US" sz="1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49518" y="6349644"/>
            <a:ext cx="5862484" cy="365125"/>
          </a:xfrm>
        </p:spPr>
        <p:txBody>
          <a:bodyPr/>
          <a:lstStyle/>
          <a:p>
            <a:pPr marL="342900" indent="-342900">
              <a:spcAft>
                <a:spcPts val="1400"/>
              </a:spcAft>
              <a:buFont typeface="Wingdings" pitchFamily="2" charset="2"/>
              <a:buChar char="v"/>
            </a:pPr>
            <a:r>
              <a:rPr lang="en-US" b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IBVAP: Adaptive, Reliability-Aware Video Intelligence for Border CCTV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7120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b="1" dirty="0"/>
              <a:t>Paridrishti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8841DF-CCA6-59DB-5644-2C69A48E2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485" y="1023786"/>
            <a:ext cx="6242179" cy="50411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2D7A57-684B-FF5C-F907-8BB1BF119A5C}"/>
              </a:ext>
            </a:extLst>
          </p:cNvPr>
          <p:cNvSpPr txBox="1"/>
          <p:nvPr/>
        </p:nvSpPr>
        <p:spPr>
          <a:xfrm>
            <a:off x="10620241" y="5588373"/>
            <a:ext cx="96215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(</a:t>
            </a:r>
            <a:r>
              <a:rPr lang="en-IO" sz="500" dirty="0"/>
              <a:t>28.7041° N, 77.1025° E</a:t>
            </a:r>
            <a:r>
              <a:rPr lang="en-US" sz="500" dirty="0"/>
              <a:t>)</a:t>
            </a:r>
            <a:endParaRPr lang="en-IO" sz="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7B6C9-F1B1-E06F-2A0A-9E6EDD1249EF}"/>
              </a:ext>
            </a:extLst>
          </p:cNvPr>
          <p:cNvSpPr txBox="1"/>
          <p:nvPr/>
        </p:nvSpPr>
        <p:spPr>
          <a:xfrm>
            <a:off x="10237656" y="5571996"/>
            <a:ext cx="49244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tx1">
                    <a:alpha val="56000"/>
                  </a:schemeClr>
                </a:solidFill>
              </a:rPr>
              <a:t>coordinates</a:t>
            </a:r>
            <a:endParaRPr lang="en-IO" sz="500" dirty="0">
              <a:solidFill>
                <a:schemeClr val="tx1">
                  <a:alpha val="5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1897" y="1400162"/>
            <a:ext cx="12010103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algn="just"/>
            <a:r>
              <a:rPr lang="en-IO" sz="1600" b="1" dirty="0"/>
              <a:t>Potential Impact &amp; Benefits</a:t>
            </a:r>
          </a:p>
          <a:p>
            <a:pPr algn="just"/>
            <a:r>
              <a:rPr lang="en-IO" sz="1600" dirty="0"/>
              <a:t>• </a:t>
            </a:r>
            <a:r>
              <a:rPr lang="en-IO" sz="1600" b="1" dirty="0"/>
              <a:t>Border Security Forces &amp; Operators</a:t>
            </a:r>
            <a:r>
              <a:rPr lang="en-IO" sz="1600" dirty="0"/>
              <a:t> – Faster identification of intrusion candidates and suspicious movement through real-time AI-assisted monitoring.</a:t>
            </a:r>
          </a:p>
          <a:p>
            <a:pPr algn="just"/>
            <a:r>
              <a:rPr lang="en-IO" sz="1600" dirty="0"/>
              <a:t>• </a:t>
            </a:r>
            <a:r>
              <a:rPr lang="en-IO" sz="1600" b="1" dirty="0"/>
              <a:t>Security Agencies &amp; Command Centres</a:t>
            </a:r>
            <a:r>
              <a:rPr lang="en-IO" sz="1600" dirty="0"/>
              <a:t> – Centralized live feeds, alerts, tracking information, and reliability context for faster decision-making.</a:t>
            </a:r>
          </a:p>
          <a:p>
            <a:pPr algn="just"/>
            <a:r>
              <a:rPr lang="en-IO" sz="1600" dirty="0"/>
              <a:t>• </a:t>
            </a:r>
            <a:r>
              <a:rPr lang="en-IO" sz="1600" b="1" dirty="0"/>
              <a:t>Critical Infrastructure &amp; Restricted Facilities</a:t>
            </a:r>
            <a:r>
              <a:rPr lang="en-IO" sz="1600" dirty="0"/>
              <a:t> – Virtual-fence monitoring helps protect sensitive zones, checkpoints, transport corridors, and perimeter areas.</a:t>
            </a:r>
          </a:p>
          <a:p>
            <a:pPr algn="just"/>
            <a:r>
              <a:rPr lang="en-IO" sz="1600" b="1" dirty="0"/>
              <a:t>❖ Operational Impact</a:t>
            </a:r>
          </a:p>
          <a:p>
            <a:pPr algn="just"/>
            <a:r>
              <a:rPr lang="en-IO" sz="1600" dirty="0"/>
              <a:t>• Converts passive CCTV feeds into </a:t>
            </a:r>
            <a:r>
              <a:rPr lang="en-IO" sz="1600" b="1" dirty="0"/>
              <a:t>real-time event-driven surveillance</a:t>
            </a:r>
            <a:r>
              <a:rPr lang="en-IO" sz="1600" dirty="0"/>
              <a:t>.</a:t>
            </a:r>
          </a:p>
          <a:p>
            <a:pPr algn="just"/>
            <a:r>
              <a:rPr lang="en-IO" sz="1600" dirty="0"/>
              <a:t>• Reduces </a:t>
            </a:r>
            <a:r>
              <a:rPr lang="en-IO" sz="1600" b="1" dirty="0"/>
              <a:t>manual monitoring</a:t>
            </a:r>
            <a:r>
              <a:rPr lang="en-IO" sz="1600" dirty="0"/>
              <a:t> through </a:t>
            </a:r>
            <a:r>
              <a:rPr lang="en-IO" sz="1600" b="1" dirty="0"/>
              <a:t>prioritized alerts and automated tracking</a:t>
            </a:r>
            <a:r>
              <a:rPr lang="en-IO" sz="1600" dirty="0"/>
              <a:t>, while enabling </a:t>
            </a:r>
            <a:r>
              <a:rPr lang="en-IO" sz="1600" b="1" dirty="0"/>
              <a:t>coordinate-based identification of intrusion locations</a:t>
            </a:r>
            <a:r>
              <a:rPr lang="en-IO" sz="1600" dirty="0"/>
              <a:t>. </a:t>
            </a:r>
            <a:endParaRPr lang="en-US" sz="1600" dirty="0"/>
          </a:p>
          <a:p>
            <a:pPr algn="just"/>
            <a:r>
              <a:rPr lang="en-IO" sz="1600" b="1" dirty="0"/>
              <a:t>❖ Economic Impact</a:t>
            </a:r>
          </a:p>
          <a:p>
            <a:pPr algn="just"/>
            <a:r>
              <a:rPr lang="en-IO" sz="1600" dirty="0"/>
              <a:t>• Reuses </a:t>
            </a:r>
            <a:r>
              <a:rPr lang="en-IO" sz="1600" b="1" dirty="0"/>
              <a:t>RTSP/IP CCTV infrastructure</a:t>
            </a:r>
            <a:r>
              <a:rPr lang="en-IO" sz="1600" dirty="0"/>
              <a:t>, reducing dependency on complete hardware replacement.</a:t>
            </a:r>
          </a:p>
          <a:p>
            <a:pPr algn="just"/>
            <a:r>
              <a:rPr lang="en-IO" sz="1600" dirty="0"/>
              <a:t>• Modular architecture enables </a:t>
            </a:r>
            <a:r>
              <a:rPr lang="en-IO" sz="1600" b="1" dirty="0"/>
              <a:t>gradual and scalable deployment</a:t>
            </a:r>
            <a:r>
              <a:rPr lang="en-IO" sz="1600" dirty="0"/>
              <a:t> based on operational requirements.</a:t>
            </a:r>
          </a:p>
          <a:p>
            <a:pPr algn="just"/>
            <a:r>
              <a:rPr lang="en-IO" sz="1600" b="1" dirty="0"/>
              <a:t>❖ Technical Impact</a:t>
            </a:r>
          </a:p>
          <a:p>
            <a:pPr algn="just"/>
            <a:r>
              <a:rPr lang="en-IO" sz="1600" dirty="0"/>
              <a:t>• Combines detection, tracking, face-watchlist verification, ANPR, and intrusion monitoring in one platform.</a:t>
            </a:r>
          </a:p>
          <a:p>
            <a:pPr algn="just"/>
            <a:r>
              <a:rPr lang="en-IO" sz="1600" dirty="0"/>
              <a:t>• Reliability-aware analytics provide operators with </a:t>
            </a:r>
            <a:r>
              <a:rPr lang="en-IO" sz="1600" b="1" dirty="0"/>
              <a:t>context about degraded visual conditions and alert confidence</a:t>
            </a:r>
            <a:r>
              <a:rPr lang="en-IO" sz="1600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30344" y="6399256"/>
            <a:ext cx="5931310" cy="365125"/>
          </a:xfrm>
        </p:spPr>
        <p:txBody>
          <a:bodyPr/>
          <a:lstStyle/>
          <a:p>
            <a:pPr marL="342900" indent="-342900">
              <a:spcAft>
                <a:spcPts val="1400"/>
              </a:spcAft>
              <a:buFont typeface="Wingdings" pitchFamily="2" charset="2"/>
              <a:buChar char="v"/>
            </a:pPr>
            <a:r>
              <a:rPr lang="en-US" b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IBVAP: Adaptive, Reliability-Aware Video Intelligence for Border CCTV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891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b="1" dirty="0"/>
              <a:t>Paridrishti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23750" y="6354762"/>
            <a:ext cx="5744497" cy="365125"/>
          </a:xfrm>
        </p:spPr>
        <p:txBody>
          <a:bodyPr/>
          <a:lstStyle/>
          <a:p>
            <a:pPr marL="342900" indent="-342900">
              <a:spcAft>
                <a:spcPts val="1400"/>
              </a:spcAft>
              <a:buFont typeface="Wingdings" pitchFamily="2" charset="2"/>
              <a:buChar char="v"/>
            </a:pPr>
            <a:r>
              <a:rPr lang="en-US" b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IBVAP: Adaptive, Reliability-Aware Video Intelligence for Border CCTV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400" b="1" dirty="0"/>
              <a:t>Paridrishti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F404BB-6E43-DC84-2B47-AE594A2D296F}"/>
              </a:ext>
            </a:extLst>
          </p:cNvPr>
          <p:cNvSpPr txBox="1"/>
          <p:nvPr/>
        </p:nvSpPr>
        <p:spPr>
          <a:xfrm>
            <a:off x="245706" y="1359451"/>
            <a:ext cx="1202405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O" sz="1600" dirty="0"/>
              <a:t>• </a:t>
            </a:r>
            <a:r>
              <a:rPr lang="en-IO" sz="1600" b="1" dirty="0"/>
              <a:t>Fu, S., Zhao, Q., Liu, H., Tao, Q., &amp; Liu, D. (2025).</a:t>
            </a:r>
            <a:r>
              <a:rPr lang="en-IO" sz="1600" dirty="0"/>
              <a:t> </a:t>
            </a:r>
            <a:r>
              <a:rPr lang="en-IO" sz="1600" i="1" dirty="0"/>
              <a:t>Low-light object detection via adaptive enhancement and dynamic feature fusion.</a:t>
            </a:r>
            <a:r>
              <a:rPr lang="en-IO" sz="1600" dirty="0"/>
              <a:t> Alexandria Engineering Journal, 126, 60–69.</a:t>
            </a:r>
            <a:br>
              <a:rPr lang="en-IO" sz="1600" dirty="0"/>
            </a:br>
            <a:r>
              <a:rPr lang="en-IO" sz="1600" dirty="0">
                <a:hlinkClick r:id="rId4"/>
              </a:rPr>
              <a:t>https://doi.org/10.1016/j.aej.2025.04.047</a:t>
            </a:r>
            <a:endParaRPr lang="en-IO" sz="1600" dirty="0"/>
          </a:p>
          <a:p>
            <a:pPr>
              <a:buNone/>
            </a:pPr>
            <a:r>
              <a:rPr lang="en-IO" sz="1600" dirty="0"/>
              <a:t>• </a:t>
            </a:r>
            <a:r>
              <a:rPr lang="en-IO" sz="1600" b="1" dirty="0"/>
              <a:t>Zhang, Y., Sun, P., Jiang, Y., Yu, D., Weng, F., Yuan, Z., Luo, P., Liu, W., &amp; Wang, X. (2022).</a:t>
            </a:r>
            <a:r>
              <a:rPr lang="en-IO" sz="1600" dirty="0"/>
              <a:t> </a:t>
            </a:r>
            <a:r>
              <a:rPr lang="en-IO" sz="1600" i="1" dirty="0" err="1"/>
              <a:t>ByteTrack</a:t>
            </a:r>
            <a:r>
              <a:rPr lang="en-IO" sz="1600" i="1" dirty="0"/>
              <a:t>: Multi-Object Tracking by Associating Every Detection Box.</a:t>
            </a:r>
            <a:r>
              <a:rPr lang="en-IO" sz="1600" dirty="0"/>
              <a:t> European Conference on Computer Vision (ECCV).</a:t>
            </a:r>
            <a:br>
              <a:rPr lang="en-IO" sz="1600" dirty="0"/>
            </a:br>
            <a:r>
              <a:rPr lang="en-IO" sz="1600" dirty="0">
                <a:hlinkClick r:id="rId5"/>
              </a:rPr>
              <a:t>https://www.ecva.net/papers/eccv_2022/papers_ECCV/html/315_ECCV_2022_paper.php</a:t>
            </a:r>
            <a:endParaRPr lang="en-IO" sz="1600" dirty="0"/>
          </a:p>
          <a:p>
            <a:pPr>
              <a:buNone/>
            </a:pPr>
            <a:r>
              <a:rPr lang="en-IO" sz="1600" dirty="0"/>
              <a:t>• </a:t>
            </a:r>
            <a:r>
              <a:rPr lang="en-IO" sz="1600" b="1" dirty="0" err="1"/>
              <a:t>Wojke</a:t>
            </a:r>
            <a:r>
              <a:rPr lang="en-IO" sz="1600" b="1" dirty="0"/>
              <a:t>, N., Bewley, A., &amp; Paulus, D. (2017).</a:t>
            </a:r>
            <a:r>
              <a:rPr lang="en-IO" sz="1600" dirty="0"/>
              <a:t> </a:t>
            </a:r>
            <a:r>
              <a:rPr lang="en-IO" sz="1600" i="1" dirty="0"/>
              <a:t>Simple Online and Realtime Tracking with a Deep Association Metric.</a:t>
            </a:r>
            <a:r>
              <a:rPr lang="en-IO" sz="1600" dirty="0"/>
              <a:t> IEEE International Conference on Image Processing (ICIP), 3645–3649.</a:t>
            </a:r>
            <a:br>
              <a:rPr lang="en-IO" sz="1600" dirty="0"/>
            </a:br>
            <a:r>
              <a:rPr lang="en-IO" sz="1600" dirty="0">
                <a:hlinkClick r:id="rId6"/>
              </a:rPr>
              <a:t>https://doi.org/10.1109/ICIP.2017.8296962</a:t>
            </a:r>
            <a:endParaRPr lang="en-IO" sz="1600" dirty="0"/>
          </a:p>
          <a:p>
            <a:pPr>
              <a:buNone/>
            </a:pPr>
            <a:r>
              <a:rPr lang="en-IO" sz="1600" dirty="0"/>
              <a:t>• </a:t>
            </a:r>
            <a:r>
              <a:rPr lang="en-IO" sz="1600" b="1" dirty="0" err="1"/>
              <a:t>Zuiderveld</a:t>
            </a:r>
            <a:r>
              <a:rPr lang="en-IO" sz="1600" b="1" dirty="0"/>
              <a:t>, K. (1994).</a:t>
            </a:r>
            <a:r>
              <a:rPr lang="en-IO" sz="1600" dirty="0"/>
              <a:t> </a:t>
            </a:r>
            <a:r>
              <a:rPr lang="en-IO" sz="1600" i="1" dirty="0"/>
              <a:t>Contrast Limited Adaptive Histogram Equalization.</a:t>
            </a:r>
            <a:r>
              <a:rPr lang="en-IO" sz="1600" dirty="0"/>
              <a:t> In Graphics Gems IV, pp. 474–485. Academic Press.</a:t>
            </a:r>
            <a:br>
              <a:rPr lang="en-IO" sz="1600" dirty="0"/>
            </a:br>
            <a:r>
              <a:rPr lang="en-IO" sz="1600" dirty="0"/>
              <a:t>https://doi.org/10.1016/B978-0-12-336156-1.50061-6</a:t>
            </a:r>
          </a:p>
          <a:p>
            <a:pPr>
              <a:buNone/>
            </a:pPr>
            <a:r>
              <a:rPr lang="en-IO" sz="1600" dirty="0"/>
              <a:t>• </a:t>
            </a:r>
            <a:r>
              <a:rPr lang="en-IO" sz="1600" b="1" dirty="0"/>
              <a:t>Singh, S., Kumari, R., Pallavi, P., et al. (2026).</a:t>
            </a:r>
            <a:r>
              <a:rPr lang="en-IO" sz="1600" dirty="0"/>
              <a:t> </a:t>
            </a:r>
            <a:r>
              <a:rPr lang="en-IO" sz="1600" i="1" dirty="0"/>
              <a:t>A systematic review of deep learning methods for low-light image enhancement and object detection.</a:t>
            </a:r>
            <a:r>
              <a:rPr lang="en-IO" sz="1600" dirty="0"/>
              <a:t> Discover Applied Sciences, 8, 241.</a:t>
            </a:r>
            <a:br>
              <a:rPr lang="en-IO" sz="1600" dirty="0"/>
            </a:br>
            <a:r>
              <a:rPr lang="en-IO" sz="1600" dirty="0"/>
              <a:t>https://doi.org/10.1007/s42452-025-08051-5</a:t>
            </a:r>
          </a:p>
          <a:p>
            <a:pPr>
              <a:buNone/>
            </a:pPr>
            <a:r>
              <a:rPr lang="en-IO" sz="1600" dirty="0"/>
              <a:t>• </a:t>
            </a:r>
            <a:r>
              <a:rPr lang="en-IO" sz="1600" b="1" dirty="0"/>
              <a:t>Qu, J., Liu, R. W., Gao, Y., Guo, Y., Zhu, F., &amp; Wang, F. (2023).</a:t>
            </a:r>
            <a:r>
              <a:rPr lang="en-IO" sz="1600" dirty="0"/>
              <a:t> </a:t>
            </a:r>
            <a:r>
              <a:rPr lang="en-IO" sz="1600" i="1" dirty="0"/>
              <a:t>Double Domain Guided Real-Time Low-Light Image Enhancement for Ultra-High-Definition Transportation Surveillance.</a:t>
            </a:r>
            <a:br>
              <a:rPr lang="en-IO" sz="1600" dirty="0"/>
            </a:br>
            <a:r>
              <a:rPr lang="en-IO" sz="1600" dirty="0">
                <a:hlinkClick r:id="rId7"/>
              </a:rPr>
              <a:t>https://arxiv.org/abs/2309.08382</a:t>
            </a:r>
            <a:endParaRPr lang="en-IO" sz="16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7777</TotalTime>
  <Words>1121</Words>
  <Application>Microsoft Office PowerPoint</Application>
  <PresentationFormat>Widescreen</PresentationFormat>
  <Paragraphs>92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IBVAP: Adaptive, Reliability-Aware Video Intelligence for Border CCTV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Saish Malgundkar</cp:lastModifiedBy>
  <cp:revision>155</cp:revision>
  <dcterms:created xsi:type="dcterms:W3CDTF">2013-12-12T18:46:50Z</dcterms:created>
  <dcterms:modified xsi:type="dcterms:W3CDTF">2026-09-08T08:24:39Z</dcterms:modified>
  <cp:category/>
</cp:coreProperties>
</file>